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f8fd25eb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f8fd25eb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f8fd25eba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f8fd25eba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f8fd25eba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f8fd25eba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f8fd25eba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f8fd25eba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fcd9960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fcd9960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f8fd25eba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f8fd25eba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f8fd25eb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f8fd25eb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f8fd25e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f8fd25e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990"/>
              <a:buNone/>
            </a:pPr>
            <a:r>
              <a:rPr lang="en">
                <a:latin typeface="Calibri"/>
                <a:ea typeface="Calibri"/>
                <a:cs typeface="Calibri"/>
                <a:sym typeface="Calibri"/>
              </a:rPr>
              <a:t>Project Proposal - </a:t>
            </a:r>
            <a:r>
              <a:rPr b="0" lang="en">
                <a:latin typeface="Calibri"/>
                <a:ea typeface="Calibri"/>
                <a:cs typeface="Calibri"/>
                <a:sym typeface="Calibri"/>
              </a:rPr>
              <a:t>Robotics and Engineering</a:t>
            </a:r>
            <a:endParaRPr b="0">
              <a:latin typeface="Calibri"/>
              <a:ea typeface="Calibri"/>
              <a:cs typeface="Calibri"/>
              <a:sym typeface="Calibri"/>
            </a:endParaRPr>
          </a:p>
          <a:p>
            <a:pPr indent="0" lvl="0" marL="0" marR="0" rtl="0" algn="l">
              <a:lnSpc>
                <a:spcPct val="100000"/>
              </a:lnSpc>
              <a:spcBef>
                <a:spcPts val="0"/>
              </a:spcBef>
              <a:spcAft>
                <a:spcPts val="0"/>
              </a:spcAft>
              <a:buSzPts val="990"/>
              <a:buNone/>
            </a:pPr>
            <a:r>
              <a:t/>
            </a:r>
            <a:endParaRPr>
              <a:latin typeface="Calibri"/>
              <a:ea typeface="Calibri"/>
              <a:cs typeface="Calibri"/>
              <a:sym typeface="Calibri"/>
            </a:endParaRPr>
          </a:p>
          <a:p>
            <a:pPr indent="0" lvl="0" marL="0" rtl="0" algn="l">
              <a:spcBef>
                <a:spcPts val="0"/>
              </a:spcBef>
              <a:spcAft>
                <a:spcPts val="0"/>
              </a:spcAft>
              <a:buSzPts val="990"/>
              <a:buNone/>
            </a:pPr>
            <a:r>
              <a:t/>
            </a:r>
            <a:endParaRPr sz="2340">
              <a:latin typeface="Calibri"/>
              <a:ea typeface="Calibri"/>
              <a:cs typeface="Calibri"/>
              <a:sym typeface="Calibri"/>
            </a:endParaRPr>
          </a:p>
        </p:txBody>
      </p:sp>
      <p:sp>
        <p:nvSpPr>
          <p:cNvPr id="87" name="Google Shape;87;p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Calibri"/>
                <a:ea typeface="Calibri"/>
                <a:cs typeface="Calibri"/>
                <a:sym typeface="Calibri"/>
              </a:rPr>
              <a:t>Idea:</a:t>
            </a:r>
            <a:endParaRPr b="1" sz="2600">
              <a:solidFill>
                <a:schemeClr val="dk2"/>
              </a:solidFill>
              <a:latin typeface="Calibri"/>
              <a:ea typeface="Calibri"/>
              <a:cs typeface="Calibri"/>
              <a:sym typeface="Calibri"/>
            </a:endParaRPr>
          </a:p>
          <a:p>
            <a:pPr indent="0" lvl="0" marL="0" rtl="0" algn="l">
              <a:spcBef>
                <a:spcPts val="1200"/>
              </a:spcBef>
              <a:spcAft>
                <a:spcPts val="0"/>
              </a:spcAft>
              <a:buNone/>
            </a:pPr>
            <a:r>
              <a:rPr lang="en" sz="1900">
                <a:solidFill>
                  <a:schemeClr val="dk2"/>
                </a:solidFill>
                <a:latin typeface="Calibri"/>
                <a:ea typeface="Calibri"/>
                <a:cs typeface="Calibri"/>
                <a:sym typeface="Calibri"/>
              </a:rPr>
              <a:t>AI that finds and tunes PID values during runtime</a:t>
            </a:r>
            <a:endParaRPr sz="1900">
              <a:solidFill>
                <a:schemeClr val="dk2"/>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NOTE: this project is ongoing! I will update this slides as I’ll progress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990"/>
              <a:buNone/>
            </a:pPr>
            <a:r>
              <a:rPr lang="en" sz="2720">
                <a:latin typeface="Calibri"/>
                <a:ea typeface="Calibri"/>
                <a:cs typeface="Calibri"/>
                <a:sym typeface="Calibri"/>
              </a:rPr>
              <a:t>The problem</a:t>
            </a:r>
            <a:endParaRPr sz="2720">
              <a:latin typeface="Calibri"/>
              <a:ea typeface="Calibri"/>
              <a:cs typeface="Calibri"/>
              <a:sym typeface="Calibri"/>
            </a:endParaRPr>
          </a:p>
          <a:p>
            <a:pPr indent="0" lvl="0" marL="0" rtl="0" algn="l">
              <a:spcBef>
                <a:spcPts val="0"/>
              </a:spcBef>
              <a:spcAft>
                <a:spcPts val="0"/>
              </a:spcAft>
              <a:buSzPts val="990"/>
              <a:buNone/>
            </a:pPr>
            <a:r>
              <a:t/>
            </a:r>
            <a:endParaRPr sz="2720">
              <a:latin typeface="Calibri"/>
              <a:ea typeface="Calibri"/>
              <a:cs typeface="Calibri"/>
              <a:sym typeface="Calibri"/>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chemeClr val="dk1"/>
                </a:solidFill>
                <a:latin typeface="Calibri"/>
                <a:ea typeface="Calibri"/>
                <a:cs typeface="Calibri"/>
                <a:sym typeface="Calibri"/>
              </a:rPr>
              <a:t>Most closed-loop control systems use a system called PID: a system that takes the error value and corrects it over time. </a:t>
            </a:r>
            <a:endParaRPr sz="19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 sz="1900">
                <a:solidFill>
                  <a:schemeClr val="dk2"/>
                </a:solidFill>
                <a:latin typeface="Calibri"/>
                <a:ea typeface="Calibri"/>
                <a:cs typeface="Calibri"/>
                <a:sym typeface="Calibri"/>
              </a:rPr>
              <a:t>The main problem with this system is that it requires manual adjustment of parameters, which can take a lot of time and resources.</a:t>
            </a:r>
            <a:endParaRPr sz="1900">
              <a:solidFill>
                <a:schemeClr val="dk2"/>
              </a:solidFill>
              <a:latin typeface="Calibri"/>
              <a:ea typeface="Calibri"/>
              <a:cs typeface="Calibri"/>
              <a:sym typeface="Calibri"/>
            </a:endParaRPr>
          </a:p>
          <a:p>
            <a:pPr indent="0" lvl="0" marL="0" rtl="0" algn="l">
              <a:spcBef>
                <a:spcPts val="1200"/>
              </a:spcBef>
              <a:spcAft>
                <a:spcPts val="12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5"/>
          <p:cNvPicPr preferRelativeResize="0"/>
          <p:nvPr/>
        </p:nvPicPr>
        <p:blipFill>
          <a:blip r:embed="rId3">
            <a:alphaModFix/>
          </a:blip>
          <a:stretch>
            <a:fillRect/>
          </a:stretch>
        </p:blipFill>
        <p:spPr>
          <a:xfrm>
            <a:off x="436100" y="2651700"/>
            <a:ext cx="4488200" cy="2261300"/>
          </a:xfrm>
          <a:prstGeom prst="rect">
            <a:avLst/>
          </a:prstGeom>
          <a:noFill/>
          <a:ln>
            <a:noFill/>
          </a:ln>
        </p:spPr>
      </p:pic>
      <p:pic>
        <p:nvPicPr>
          <p:cNvPr id="99" name="Google Shape;99;p15"/>
          <p:cNvPicPr preferRelativeResize="0"/>
          <p:nvPr/>
        </p:nvPicPr>
        <p:blipFill>
          <a:blip r:embed="rId4">
            <a:alphaModFix/>
          </a:blip>
          <a:stretch>
            <a:fillRect/>
          </a:stretch>
        </p:blipFill>
        <p:spPr>
          <a:xfrm>
            <a:off x="4924300" y="2923625"/>
            <a:ext cx="4219699" cy="953300"/>
          </a:xfrm>
          <a:prstGeom prst="rect">
            <a:avLst/>
          </a:prstGeom>
          <a:noFill/>
          <a:ln>
            <a:noFill/>
          </a:ln>
        </p:spPr>
      </p:pic>
      <p:sp>
        <p:nvSpPr>
          <p:cNvPr id="100" name="Google Shape;100;p15"/>
          <p:cNvSpPr txBox="1"/>
          <p:nvPr>
            <p:ph type="title"/>
          </p:nvPr>
        </p:nvSpPr>
        <p:spPr>
          <a:xfrm>
            <a:off x="311700" y="100825"/>
            <a:ext cx="8520600" cy="572700"/>
          </a:xfrm>
          <a:prstGeom prst="rect">
            <a:avLst/>
          </a:prstGeom>
        </p:spPr>
        <p:txBody>
          <a:bodyPr anchorCtr="0" anchor="t" bIns="91425" lIns="91425" spcFirstLastPara="1" rIns="91425" wrap="square" tIns="91425">
            <a:noAutofit/>
          </a:bodyPr>
          <a:lstStyle/>
          <a:p>
            <a:pPr indent="0" lvl="0" marL="0" marR="0" rtl="1" algn="l">
              <a:lnSpc>
                <a:spcPct val="100000"/>
              </a:lnSpc>
              <a:spcBef>
                <a:spcPts val="0"/>
              </a:spcBef>
              <a:spcAft>
                <a:spcPts val="0"/>
              </a:spcAft>
              <a:buSzPts val="990"/>
              <a:buNone/>
            </a:pPr>
            <a:r>
              <a:rPr lang="en" sz="2340"/>
              <a:t>Explanation of the PID system</a:t>
            </a:r>
            <a:endParaRPr sz="2340"/>
          </a:p>
          <a:p>
            <a:pPr indent="0" lvl="0" marL="0" rtl="1" algn="l">
              <a:spcBef>
                <a:spcPts val="0"/>
              </a:spcBef>
              <a:spcAft>
                <a:spcPts val="0"/>
              </a:spcAft>
              <a:buSzPts val="990"/>
              <a:buNone/>
            </a:pPr>
            <a:r>
              <a:t/>
            </a:r>
            <a:endParaRPr sz="2340"/>
          </a:p>
        </p:txBody>
      </p:sp>
      <p:sp>
        <p:nvSpPr>
          <p:cNvPr id="101" name="Google Shape;101;p15"/>
          <p:cNvSpPr txBox="1"/>
          <p:nvPr>
            <p:ph idx="1" type="body"/>
          </p:nvPr>
        </p:nvSpPr>
        <p:spPr>
          <a:xfrm>
            <a:off x="311700" y="797850"/>
            <a:ext cx="8520600" cy="3416400"/>
          </a:xfrm>
          <a:prstGeom prst="rect">
            <a:avLst/>
          </a:prstGeom>
        </p:spPr>
        <p:txBody>
          <a:bodyPr anchorCtr="0" anchor="t" bIns="91425" lIns="91425" spcFirstLastPara="1" rIns="91425" wrap="square" tIns="91425">
            <a:noAutofit/>
          </a:bodyPr>
          <a:lstStyle/>
          <a:p>
            <a:pPr indent="0" lvl="0" marL="457200" marR="334049" rtl="0" algn="ctr">
              <a:lnSpc>
                <a:spcPct val="115000"/>
              </a:lnSpc>
              <a:spcBef>
                <a:spcPts val="999"/>
              </a:spcBef>
              <a:spcAft>
                <a:spcPts val="0"/>
              </a:spcAft>
              <a:buNone/>
            </a:pPr>
            <a:r>
              <a:rPr lang="en"/>
              <a:t>      PID: (proportional, integral, derivative)</a:t>
            </a:r>
            <a:endParaRPr/>
          </a:p>
          <a:p>
            <a:pPr indent="0" lvl="0" marL="0" marR="334049" rtl="0" algn="l">
              <a:lnSpc>
                <a:spcPct val="115000"/>
              </a:lnSpc>
              <a:spcBef>
                <a:spcPts val="999"/>
              </a:spcBef>
              <a:spcAft>
                <a:spcPts val="0"/>
              </a:spcAft>
              <a:buNone/>
            </a:pPr>
            <a:r>
              <a:rPr lang="en" sz="1900">
                <a:solidFill>
                  <a:schemeClr val="dk2"/>
                </a:solidFill>
                <a:latin typeface="Calibri"/>
                <a:ea typeface="Calibri"/>
                <a:cs typeface="Calibri"/>
                <a:sym typeface="Calibri"/>
              </a:rPr>
              <a:t> A continuous closed-loop navigation control algorithm. This algorithm uses the output error of an operation to adjust and correct it, thereby maintaining stability and accurately achieving the desired target.</a:t>
            </a:r>
            <a:endParaRPr sz="1900">
              <a:solidFill>
                <a:schemeClr val="dk2"/>
              </a:solidFill>
              <a:latin typeface="Calibri"/>
              <a:ea typeface="Calibri"/>
              <a:cs typeface="Calibri"/>
              <a:sym typeface="Calibri"/>
            </a:endParaRPr>
          </a:p>
          <a:p>
            <a:pPr indent="0" lvl="0" marL="0" rtl="1" algn="r">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4630700" y="2942953"/>
            <a:ext cx="4480850" cy="2200547"/>
          </a:xfrm>
          <a:prstGeom prst="rect">
            <a:avLst/>
          </a:prstGeom>
          <a:noFill/>
          <a:ln>
            <a:noFill/>
          </a:ln>
        </p:spPr>
      </p:pic>
      <p:sp>
        <p:nvSpPr>
          <p:cNvPr id="107" name="Google Shape;107;p16"/>
          <p:cNvSpPr txBox="1"/>
          <p:nvPr>
            <p:ph type="title"/>
          </p:nvPr>
        </p:nvSpPr>
        <p:spPr>
          <a:xfrm>
            <a:off x="311700" y="100825"/>
            <a:ext cx="8520600" cy="572700"/>
          </a:xfrm>
          <a:prstGeom prst="rect">
            <a:avLst/>
          </a:prstGeom>
        </p:spPr>
        <p:txBody>
          <a:bodyPr anchorCtr="0" anchor="t" bIns="91425" lIns="91425" spcFirstLastPara="1" rIns="91425" wrap="square" tIns="91425">
            <a:noAutofit/>
          </a:bodyPr>
          <a:lstStyle/>
          <a:p>
            <a:pPr indent="0" lvl="0" marL="0" marR="0" rtl="1" algn="r">
              <a:lnSpc>
                <a:spcPct val="100000"/>
              </a:lnSpc>
              <a:spcBef>
                <a:spcPts val="0"/>
              </a:spcBef>
              <a:spcAft>
                <a:spcPts val="0"/>
              </a:spcAft>
              <a:buSzPts val="990"/>
              <a:buNone/>
            </a:pPr>
            <a:r>
              <a:rPr lang="en" sz="2340"/>
              <a:t>Solving the problem - Neuro PID</a:t>
            </a:r>
            <a:endParaRPr sz="2340"/>
          </a:p>
          <a:p>
            <a:pPr indent="0" lvl="0" marL="0" rtl="1" algn="r">
              <a:spcBef>
                <a:spcPts val="0"/>
              </a:spcBef>
              <a:spcAft>
                <a:spcPts val="0"/>
              </a:spcAft>
              <a:buSzPts val="990"/>
              <a:buNone/>
            </a:pPr>
            <a:r>
              <a:t/>
            </a:r>
            <a:endParaRPr sz="2340"/>
          </a:p>
        </p:txBody>
      </p:sp>
      <p:sp>
        <p:nvSpPr>
          <p:cNvPr id="108" name="Google Shape;108;p16"/>
          <p:cNvSpPr txBox="1"/>
          <p:nvPr>
            <p:ph idx="1" type="body"/>
          </p:nvPr>
        </p:nvSpPr>
        <p:spPr>
          <a:xfrm>
            <a:off x="420450" y="1131950"/>
            <a:ext cx="8520600" cy="3416400"/>
          </a:xfrm>
          <a:prstGeom prst="rect">
            <a:avLst/>
          </a:prstGeom>
        </p:spPr>
        <p:txBody>
          <a:bodyPr anchorCtr="0" anchor="t" bIns="91425" lIns="91425" spcFirstLastPara="1" rIns="91425" wrap="square" tIns="91425">
            <a:noAutofit/>
          </a:bodyPr>
          <a:lstStyle/>
          <a:p>
            <a:pPr indent="0" lvl="0" marL="0" marR="334049" rtl="0" algn="l">
              <a:lnSpc>
                <a:spcPct val="100000"/>
              </a:lnSpc>
              <a:spcBef>
                <a:spcPts val="999"/>
              </a:spcBef>
              <a:spcAft>
                <a:spcPts val="0"/>
              </a:spcAft>
              <a:buNone/>
            </a:pPr>
            <a:r>
              <a:rPr lang="en" sz="1900">
                <a:solidFill>
                  <a:srgbClr val="000000"/>
                </a:solidFill>
              </a:rPr>
              <a:t>We inserted a neural network with the following characteristics into the PID loop:</a:t>
            </a:r>
            <a:endParaRPr sz="1900">
              <a:solidFill>
                <a:srgbClr val="000000"/>
              </a:solidFill>
            </a:endParaRPr>
          </a:p>
          <a:p>
            <a:pPr indent="-349250" lvl="0" marL="457200" marR="334049" rtl="0" algn="l">
              <a:lnSpc>
                <a:spcPct val="115000"/>
              </a:lnSpc>
              <a:spcBef>
                <a:spcPts val="999"/>
              </a:spcBef>
              <a:spcAft>
                <a:spcPts val="0"/>
              </a:spcAft>
              <a:buClr>
                <a:srgbClr val="000000"/>
              </a:buClr>
              <a:buSzPts val="1900"/>
              <a:buChar char="●"/>
            </a:pPr>
            <a:r>
              <a:rPr lang="en" sz="1900">
                <a:solidFill>
                  <a:srgbClr val="000000"/>
                </a:solidFill>
              </a:rPr>
              <a:t>Input: Error values, previous values, set point (target point)</a:t>
            </a:r>
            <a:endParaRPr sz="1900">
              <a:solidFill>
                <a:srgbClr val="000000"/>
              </a:solidFill>
            </a:endParaRPr>
          </a:p>
          <a:p>
            <a:pPr indent="-349250" lvl="0" marL="457200" marR="334049" rtl="0" algn="l">
              <a:lnSpc>
                <a:spcPct val="115000"/>
              </a:lnSpc>
              <a:spcBef>
                <a:spcPts val="0"/>
              </a:spcBef>
              <a:spcAft>
                <a:spcPts val="0"/>
              </a:spcAft>
              <a:buClr>
                <a:srgbClr val="000000"/>
              </a:buClr>
              <a:buSzPts val="1900"/>
              <a:buChar char="●"/>
            </a:pPr>
            <a:r>
              <a:rPr lang="en" sz="1900">
                <a:solidFill>
                  <a:srgbClr val="000000"/>
                </a:solidFill>
              </a:rPr>
              <a:t>Output: Ki, Kp, Kd values (PID parameters) </a:t>
            </a:r>
            <a:endParaRPr sz="1900">
              <a:solidFill>
                <a:srgbClr val="000000"/>
              </a:solidFill>
            </a:endParaRPr>
          </a:p>
          <a:p>
            <a:pPr indent="0" lvl="0" marL="0" marR="334049" rtl="0" algn="l">
              <a:lnSpc>
                <a:spcPct val="100000"/>
              </a:lnSpc>
              <a:spcBef>
                <a:spcPts val="999"/>
              </a:spcBef>
              <a:spcAft>
                <a:spcPts val="0"/>
              </a:spcAft>
              <a:buNone/>
            </a:pPr>
            <a:r>
              <a:rPr lang="en" sz="1900">
                <a:solidFill>
                  <a:schemeClr val="dk2"/>
                </a:solidFill>
                <a:latin typeface="Calibri"/>
                <a:ea typeface="Calibri"/>
                <a:cs typeface="Calibri"/>
                <a:sym typeface="Calibri"/>
              </a:rPr>
              <a:t>The AI learns while running, which means it accurately adjusts the values during operation. This ability allows the AI to adapt to any system, thereby reducing the time it takes to find parameters manually.</a:t>
            </a:r>
            <a:endParaRPr sz="1900">
              <a:solidFill>
                <a:schemeClr val="dk2"/>
              </a:solidFill>
              <a:latin typeface="Calibri"/>
              <a:ea typeface="Calibri"/>
              <a:cs typeface="Calibri"/>
              <a:sym typeface="Calibri"/>
            </a:endParaRPr>
          </a:p>
          <a:p>
            <a:pPr indent="0" lvl="0" marL="0" rtl="0" algn="l">
              <a:lnSpc>
                <a:spcPct val="95000"/>
              </a:lnSpc>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3">
            <a:alphaModFix/>
          </a:blip>
          <a:srcRect b="14353" l="-1460" r="11345" t="14346"/>
          <a:stretch/>
        </p:blipFill>
        <p:spPr>
          <a:xfrm>
            <a:off x="-61375" y="3224400"/>
            <a:ext cx="5010675" cy="1919099"/>
          </a:xfrm>
          <a:prstGeom prst="rect">
            <a:avLst/>
          </a:prstGeom>
          <a:noFill/>
          <a:ln>
            <a:noFill/>
          </a:ln>
        </p:spPr>
      </p:pic>
      <p:pic>
        <p:nvPicPr>
          <p:cNvPr id="114" name="Google Shape;114;p17"/>
          <p:cNvPicPr preferRelativeResize="0"/>
          <p:nvPr/>
        </p:nvPicPr>
        <p:blipFill>
          <a:blip r:embed="rId4">
            <a:alphaModFix/>
          </a:blip>
          <a:stretch>
            <a:fillRect/>
          </a:stretch>
        </p:blipFill>
        <p:spPr>
          <a:xfrm>
            <a:off x="5363875" y="2998650"/>
            <a:ext cx="3275376" cy="2144850"/>
          </a:xfrm>
          <a:prstGeom prst="rect">
            <a:avLst/>
          </a:prstGeom>
          <a:noFill/>
          <a:ln>
            <a:noFill/>
          </a:ln>
        </p:spPr>
      </p:pic>
      <p:sp>
        <p:nvSpPr>
          <p:cNvPr id="115" name="Google Shape;115;p17"/>
          <p:cNvSpPr txBox="1"/>
          <p:nvPr>
            <p:ph type="title"/>
          </p:nvPr>
        </p:nvSpPr>
        <p:spPr>
          <a:xfrm>
            <a:off x="311700" y="100825"/>
            <a:ext cx="8520600" cy="572700"/>
          </a:xfrm>
          <a:prstGeom prst="rect">
            <a:avLst/>
          </a:prstGeom>
        </p:spPr>
        <p:txBody>
          <a:bodyPr anchorCtr="0" anchor="t" bIns="91425" lIns="91425" spcFirstLastPara="1" rIns="91425" wrap="square" tIns="91425">
            <a:noAutofit/>
          </a:bodyPr>
          <a:lstStyle/>
          <a:p>
            <a:pPr indent="0" lvl="0" marL="0" marR="0" rtl="1" algn="l">
              <a:lnSpc>
                <a:spcPct val="100000"/>
              </a:lnSpc>
              <a:spcBef>
                <a:spcPts val="0"/>
              </a:spcBef>
              <a:spcAft>
                <a:spcPts val="0"/>
              </a:spcAft>
              <a:buSzPts val="990"/>
              <a:buNone/>
            </a:pPr>
            <a:r>
              <a:rPr lang="en" sz="2340"/>
              <a:t>About  the AI</a:t>
            </a:r>
            <a:endParaRPr sz="2340"/>
          </a:p>
          <a:p>
            <a:pPr indent="0" lvl="0" marL="0" rtl="1" algn="r">
              <a:spcBef>
                <a:spcPts val="0"/>
              </a:spcBef>
              <a:spcAft>
                <a:spcPts val="0"/>
              </a:spcAft>
              <a:buSzPts val="990"/>
              <a:buNone/>
            </a:pPr>
            <a:r>
              <a:t/>
            </a:r>
            <a:endParaRPr sz="2340"/>
          </a:p>
        </p:txBody>
      </p:sp>
      <p:sp>
        <p:nvSpPr>
          <p:cNvPr id="116" name="Google Shape;116;p17"/>
          <p:cNvSpPr txBox="1"/>
          <p:nvPr>
            <p:ph idx="1" type="body"/>
          </p:nvPr>
        </p:nvSpPr>
        <p:spPr>
          <a:xfrm>
            <a:off x="311700" y="805600"/>
            <a:ext cx="8520600" cy="3416400"/>
          </a:xfrm>
          <a:prstGeom prst="rect">
            <a:avLst/>
          </a:prstGeom>
        </p:spPr>
        <p:txBody>
          <a:bodyPr anchorCtr="0" anchor="t" bIns="91425" lIns="91425" spcFirstLastPara="1" rIns="91425" wrap="square" tIns="91425">
            <a:noAutofit/>
          </a:bodyPr>
          <a:lstStyle/>
          <a:p>
            <a:pPr indent="0" lvl="0" marL="0" marR="334049" rtl="0" algn="l">
              <a:lnSpc>
                <a:spcPct val="115000"/>
              </a:lnSpc>
              <a:spcBef>
                <a:spcPts val="999"/>
              </a:spcBef>
              <a:spcAft>
                <a:spcPts val="0"/>
              </a:spcAft>
              <a:buNone/>
            </a:pPr>
            <a:r>
              <a:rPr lang="en" sz="2200">
                <a:solidFill>
                  <a:schemeClr val="dk2"/>
                </a:solidFill>
                <a:latin typeface="Calibri"/>
                <a:ea typeface="Calibri"/>
                <a:cs typeface="Calibri"/>
                <a:sym typeface="Calibri"/>
              </a:rPr>
              <a:t>  A neural network that operates on the principle of unsupervised </a:t>
            </a:r>
            <a:r>
              <a:rPr lang="en" sz="1900">
                <a:solidFill>
                  <a:schemeClr val="dk2"/>
                </a:solidFill>
                <a:latin typeface="Calibri"/>
                <a:ea typeface="Calibri"/>
                <a:cs typeface="Calibri"/>
                <a:sym typeface="Calibri"/>
              </a:rPr>
              <a:t>learning - the system aims to reduce the error value instead of learning from existing data. The lower the error, the higher the "reward" the AI receives. The network's calculation time within the controller is less than a nanosecond (instantaneous).</a:t>
            </a:r>
            <a:endParaRPr sz="1900">
              <a:solidFill>
                <a:schemeClr val="dk2"/>
              </a:solidFill>
              <a:latin typeface="Calibri"/>
              <a:ea typeface="Calibri"/>
              <a:cs typeface="Calibri"/>
              <a:sym typeface="Calibri"/>
            </a:endParaRPr>
          </a:p>
          <a:p>
            <a:pPr indent="0" lvl="0" marL="0" marR="334049" rtl="0" algn="l">
              <a:lnSpc>
                <a:spcPct val="115000"/>
              </a:lnSpc>
              <a:spcBef>
                <a:spcPts val="999"/>
              </a:spcBef>
              <a:spcAft>
                <a:spcPts val="0"/>
              </a:spcAft>
              <a:buNone/>
            </a:pPr>
            <a:r>
              <a:rPr lang="en">
                <a:latin typeface="Calibri"/>
                <a:ea typeface="Calibri"/>
                <a:cs typeface="Calibri"/>
                <a:sym typeface="Calibri"/>
              </a:rPr>
              <a:t>The network uses an activation function (the algorithm by which the network calculates) called ReLU.</a:t>
            </a:r>
            <a:endParaRPr>
              <a:latin typeface="Calibri"/>
              <a:ea typeface="Calibri"/>
              <a:cs typeface="Calibri"/>
              <a:sym typeface="Calibri"/>
            </a:endParaRPr>
          </a:p>
          <a:p>
            <a:pPr indent="0" lvl="0" marL="0" rtl="0" algn="l">
              <a:lnSpc>
                <a:spcPct val="95000"/>
              </a:lnSpc>
              <a:spcBef>
                <a:spcPts val="0"/>
              </a:spcBef>
              <a:spcAft>
                <a:spcPts val="1200"/>
              </a:spcAft>
              <a:buNone/>
            </a:pPr>
            <a:r>
              <a:t/>
            </a:r>
            <a:endParaRPr>
              <a:latin typeface="Calibri"/>
              <a:ea typeface="Calibri"/>
              <a:cs typeface="Calibri"/>
              <a:sym typeface="Calibri"/>
            </a:endParaRPr>
          </a:p>
        </p:txBody>
      </p:sp>
      <p:sp>
        <p:nvSpPr>
          <p:cNvPr id="117" name="Google Shape;117;p17"/>
          <p:cNvSpPr txBox="1"/>
          <p:nvPr/>
        </p:nvSpPr>
        <p:spPr>
          <a:xfrm>
            <a:off x="0" y="4681800"/>
            <a:ext cx="3997800" cy="461700"/>
          </a:xfrm>
          <a:prstGeom prst="rect">
            <a:avLst/>
          </a:prstGeom>
          <a:noFill/>
          <a:ln>
            <a:noFill/>
          </a:ln>
        </p:spPr>
        <p:txBody>
          <a:bodyPr anchorCtr="0" anchor="t" bIns="91425" lIns="91425" spcFirstLastPara="1" rIns="91425" wrap="square" tIns="91425">
            <a:noAutofit/>
          </a:bodyPr>
          <a:lstStyle/>
          <a:p>
            <a:pPr indent="0" lvl="0" marL="0" marR="0" rtl="1" algn="l">
              <a:lnSpc>
                <a:spcPct val="100000"/>
              </a:lnSpc>
              <a:spcBef>
                <a:spcPts val="0"/>
              </a:spcBef>
              <a:spcAft>
                <a:spcPts val="0"/>
              </a:spcAft>
              <a:buNone/>
            </a:pPr>
            <a:r>
              <a:rPr lang="en" sz="1700">
                <a:solidFill>
                  <a:srgbClr val="434343"/>
                </a:solidFill>
                <a:latin typeface="Calibri"/>
                <a:ea typeface="Calibri"/>
                <a:cs typeface="Calibri"/>
                <a:sym typeface="Calibri"/>
              </a:rPr>
              <a:t>Image of the neural network</a:t>
            </a:r>
            <a:endParaRPr sz="1700">
              <a:solidFill>
                <a:srgbClr val="434343"/>
              </a:solidFill>
              <a:latin typeface="Calibri"/>
              <a:ea typeface="Calibri"/>
              <a:cs typeface="Calibri"/>
              <a:sym typeface="Calibri"/>
            </a:endParaRPr>
          </a:p>
          <a:p>
            <a:pPr indent="0" lvl="0" marL="0" rtl="1" algn="r">
              <a:spcBef>
                <a:spcPts val="0"/>
              </a:spcBef>
              <a:spcAft>
                <a:spcPts val="0"/>
              </a:spcAft>
              <a:buNone/>
            </a:pPr>
            <a:r>
              <a:t/>
            </a:r>
            <a:endParaRPr sz="18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Note: this is a simulation</a:t>
            </a:r>
            <a:endParaRPr/>
          </a:p>
          <a:p>
            <a:pPr indent="0" lvl="0" marL="0" rtl="0" algn="l">
              <a:spcBef>
                <a:spcPts val="1200"/>
              </a:spcBef>
              <a:spcAft>
                <a:spcPts val="1200"/>
              </a:spcAft>
              <a:buNone/>
            </a:pPr>
            <a:r>
              <a:rPr lang="en"/>
              <a:t>The system has yet to be tested in                                                                                                                                                                        the real world</a:t>
            </a:r>
            <a:endParaRPr/>
          </a:p>
        </p:txBody>
      </p:sp>
      <p:pic>
        <p:nvPicPr>
          <p:cNvPr id="123" name="Google Shape;123;p18"/>
          <p:cNvPicPr preferRelativeResize="0"/>
          <p:nvPr/>
        </p:nvPicPr>
        <p:blipFill>
          <a:blip r:embed="rId3">
            <a:alphaModFix/>
          </a:blip>
          <a:stretch>
            <a:fillRect/>
          </a:stretch>
        </p:blipFill>
        <p:spPr>
          <a:xfrm>
            <a:off x="3570175" y="475187"/>
            <a:ext cx="5573825" cy="2222125"/>
          </a:xfrm>
          <a:prstGeom prst="rect">
            <a:avLst/>
          </a:prstGeom>
          <a:noFill/>
          <a:ln>
            <a:noFill/>
          </a:ln>
        </p:spPr>
      </p:pic>
      <p:pic>
        <p:nvPicPr>
          <p:cNvPr id="124" name="Google Shape;124;p18"/>
          <p:cNvPicPr preferRelativeResize="0"/>
          <p:nvPr/>
        </p:nvPicPr>
        <p:blipFill rotWithShape="1">
          <a:blip r:embed="rId4">
            <a:alphaModFix/>
          </a:blip>
          <a:srcRect b="0" l="0" r="4979" t="0"/>
          <a:stretch/>
        </p:blipFill>
        <p:spPr>
          <a:xfrm>
            <a:off x="3215775" y="2750450"/>
            <a:ext cx="5928225" cy="2393050"/>
          </a:xfrm>
          <a:prstGeom prst="rect">
            <a:avLst/>
          </a:prstGeom>
          <a:noFill/>
          <a:ln>
            <a:noFill/>
          </a:ln>
        </p:spPr>
      </p:pic>
      <p:sp>
        <p:nvSpPr>
          <p:cNvPr id="125" name="Google Shape;125;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990"/>
              <a:buNone/>
            </a:pPr>
            <a:r>
              <a:rPr lang="en" sz="2340">
                <a:latin typeface="Calibri"/>
                <a:ea typeface="Calibri"/>
                <a:cs typeface="Calibri"/>
                <a:sym typeface="Calibri"/>
              </a:rPr>
              <a:t>Results:</a:t>
            </a:r>
            <a:endParaRPr sz="2340">
              <a:latin typeface="Calibri"/>
              <a:ea typeface="Calibri"/>
              <a:cs typeface="Calibri"/>
              <a:sym typeface="Calibri"/>
            </a:endParaRPr>
          </a:p>
          <a:p>
            <a:pPr indent="0" lvl="0" marL="0" rtl="1" algn="r">
              <a:spcBef>
                <a:spcPts val="0"/>
              </a:spcBef>
              <a:spcAft>
                <a:spcPts val="0"/>
              </a:spcAft>
              <a:buSzPts val="990"/>
              <a:buNone/>
            </a:pPr>
            <a:r>
              <a:t/>
            </a:r>
            <a:endParaRPr sz="234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19"/>
          <p:cNvPicPr preferRelativeResize="0"/>
          <p:nvPr/>
        </p:nvPicPr>
        <p:blipFill>
          <a:blip r:embed="rId3">
            <a:alphaModFix/>
          </a:blip>
          <a:stretch>
            <a:fillRect/>
          </a:stretch>
        </p:blipFill>
        <p:spPr>
          <a:xfrm>
            <a:off x="7080675" y="905600"/>
            <a:ext cx="1751625" cy="1751625"/>
          </a:xfrm>
          <a:prstGeom prst="rect">
            <a:avLst/>
          </a:prstGeom>
          <a:noFill/>
          <a:ln>
            <a:noFill/>
          </a:ln>
        </p:spPr>
      </p:pic>
      <p:pic>
        <p:nvPicPr>
          <p:cNvPr id="131" name="Google Shape;131;p19"/>
          <p:cNvPicPr preferRelativeResize="0"/>
          <p:nvPr/>
        </p:nvPicPr>
        <p:blipFill>
          <a:blip r:embed="rId4">
            <a:alphaModFix/>
          </a:blip>
          <a:stretch>
            <a:fillRect/>
          </a:stretch>
        </p:blipFill>
        <p:spPr>
          <a:xfrm>
            <a:off x="7124526" y="3472775"/>
            <a:ext cx="1663900" cy="1247925"/>
          </a:xfrm>
          <a:prstGeom prst="rect">
            <a:avLst/>
          </a:prstGeom>
          <a:noFill/>
          <a:ln>
            <a:noFill/>
          </a:ln>
        </p:spPr>
      </p:pic>
      <p:pic>
        <p:nvPicPr>
          <p:cNvPr id="132" name="Google Shape;132;p19"/>
          <p:cNvPicPr preferRelativeResize="0"/>
          <p:nvPr/>
        </p:nvPicPr>
        <p:blipFill>
          <a:blip r:embed="rId5">
            <a:alphaModFix/>
          </a:blip>
          <a:stretch>
            <a:fillRect/>
          </a:stretch>
        </p:blipFill>
        <p:spPr>
          <a:xfrm>
            <a:off x="0" y="4048750"/>
            <a:ext cx="1950825" cy="1094750"/>
          </a:xfrm>
          <a:prstGeom prst="rect">
            <a:avLst/>
          </a:prstGeom>
          <a:noFill/>
          <a:ln>
            <a:noFill/>
          </a:ln>
        </p:spPr>
      </p:pic>
      <p:sp>
        <p:nvSpPr>
          <p:cNvPr id="133" name="Google Shape;133;p19"/>
          <p:cNvSpPr txBox="1"/>
          <p:nvPr>
            <p:ph type="title"/>
          </p:nvPr>
        </p:nvSpPr>
        <p:spPr>
          <a:xfrm>
            <a:off x="311700" y="414950"/>
            <a:ext cx="8520600" cy="572700"/>
          </a:xfrm>
          <a:prstGeom prst="rect">
            <a:avLst/>
          </a:prstGeom>
        </p:spPr>
        <p:txBody>
          <a:bodyPr anchorCtr="0" anchor="t" bIns="91425" lIns="91425" spcFirstLastPara="1" rIns="91425" wrap="square" tIns="91425">
            <a:noAutofit/>
          </a:bodyPr>
          <a:lstStyle/>
          <a:p>
            <a:pPr indent="0" lvl="0" marL="0" marR="0" rtl="1" algn="r">
              <a:lnSpc>
                <a:spcPct val="100000"/>
              </a:lnSpc>
              <a:spcBef>
                <a:spcPts val="0"/>
              </a:spcBef>
              <a:spcAft>
                <a:spcPts val="0"/>
              </a:spcAft>
              <a:buNone/>
            </a:pPr>
            <a:r>
              <a:rPr lang="en">
                <a:latin typeface="Calibri"/>
                <a:ea typeface="Calibri"/>
                <a:cs typeface="Calibri"/>
                <a:sym typeface="Calibri"/>
              </a:rPr>
              <a:t>A conceptual description of the system</a:t>
            </a:r>
            <a:endParaRPr>
              <a:latin typeface="Calibri"/>
              <a:ea typeface="Calibri"/>
              <a:cs typeface="Calibri"/>
              <a:sym typeface="Calibri"/>
            </a:endParaRPr>
          </a:p>
          <a:p>
            <a:pPr indent="0" lvl="0" marL="0" rtl="1" algn="r">
              <a:spcBef>
                <a:spcPts val="0"/>
              </a:spcBef>
              <a:spcAft>
                <a:spcPts val="0"/>
              </a:spcAft>
              <a:buNone/>
            </a:pPr>
            <a:r>
              <a:t/>
            </a:r>
            <a:endParaRPr>
              <a:latin typeface="Calibri"/>
              <a:ea typeface="Calibri"/>
              <a:cs typeface="Calibri"/>
              <a:sym typeface="Calibri"/>
            </a:endParaRPr>
          </a:p>
        </p:txBody>
      </p:sp>
      <p:sp>
        <p:nvSpPr>
          <p:cNvPr id="134" name="Google Shape;134;p19"/>
          <p:cNvSpPr txBox="1"/>
          <p:nvPr>
            <p:ph idx="1" type="body"/>
          </p:nvPr>
        </p:nvSpPr>
        <p:spPr>
          <a:xfrm>
            <a:off x="0" y="2086650"/>
            <a:ext cx="7688700" cy="22611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 Jeton Orin Nano Super as a controller </a:t>
            </a:r>
            <a:endParaRPr sz="1800">
              <a:solidFill>
                <a:schemeClr val="dk2"/>
              </a:solidFill>
              <a:latin typeface="Calibri"/>
              <a:ea typeface="Calibri"/>
              <a:cs typeface="Calibri"/>
              <a:sym typeface="Calibri"/>
            </a:endParaRPr>
          </a:p>
          <a:p>
            <a:pPr indent="-342900" lvl="0" marL="457200" marR="0" rtl="0" algn="l">
              <a:lnSpc>
                <a:spcPct val="115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LiDAR. Connected using the UART (TX RX) and/or USB protocol.                                                                               </a:t>
            </a:r>
            <a:endParaRPr sz="1800">
              <a:solidFill>
                <a:schemeClr val="dk2"/>
              </a:solidFill>
              <a:latin typeface="Calibri"/>
              <a:ea typeface="Calibri"/>
              <a:cs typeface="Calibri"/>
              <a:sym typeface="Calibri"/>
            </a:endParaRPr>
          </a:p>
          <a:p>
            <a:pPr indent="-342900" lvl="0" marL="457200" marR="0" rtl="0" algn="l">
              <a:lnSpc>
                <a:spcPct val="115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Uses the neuro PID on the distance to correct deviations and inaccuracies.                                                              </a:t>
            </a:r>
            <a:endParaRPr sz="1800">
              <a:solidFill>
                <a:schemeClr val="dk2"/>
              </a:solidFill>
              <a:latin typeface="Calibri"/>
              <a:ea typeface="Calibri"/>
              <a:cs typeface="Calibri"/>
              <a:sym typeface="Calibri"/>
            </a:endParaRPr>
          </a:p>
          <a:p>
            <a:pPr indent="-342900" lvl="0" marL="457200" marR="0" rtl="0" algn="l">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Using ROS to synchronize all components</a:t>
            </a:r>
            <a:endParaRPr sz="1800">
              <a:solidFill>
                <a:schemeClr val="dk1"/>
              </a:solidFill>
              <a:latin typeface="Calibri"/>
              <a:ea typeface="Calibri"/>
              <a:cs typeface="Calibri"/>
              <a:sym typeface="Calibri"/>
            </a:endParaRPr>
          </a:p>
          <a:p>
            <a:pPr indent="0" lvl="0" marL="0" rtl="0" algn="l">
              <a:spcBef>
                <a:spcPts val="1200"/>
              </a:spcBef>
              <a:spcAft>
                <a:spcPts val="120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0" name="Google Shape;140;p20"/>
          <p:cNvPicPr preferRelativeResize="0"/>
          <p:nvPr/>
        </p:nvPicPr>
        <p:blipFill>
          <a:blip r:embed="rId3">
            <a:alphaModFix/>
          </a:blip>
          <a:stretch>
            <a:fillRect/>
          </a:stretch>
        </p:blipFill>
        <p:spPr>
          <a:xfrm>
            <a:off x="1884525" y="948900"/>
            <a:ext cx="6097462" cy="4122575"/>
          </a:xfrm>
          <a:prstGeom prst="rect">
            <a:avLst/>
          </a:prstGeom>
          <a:noFill/>
          <a:ln>
            <a:noFill/>
          </a:ln>
        </p:spPr>
      </p:pic>
      <p:sp>
        <p:nvSpPr>
          <p:cNvPr id="141" name="Google Shape;141;p20"/>
          <p:cNvSpPr txBox="1"/>
          <p:nvPr>
            <p:ph type="title"/>
          </p:nvPr>
        </p:nvSpPr>
        <p:spPr>
          <a:xfrm>
            <a:off x="311700" y="376200"/>
            <a:ext cx="8520600" cy="572700"/>
          </a:xfrm>
          <a:prstGeom prst="rect">
            <a:avLst/>
          </a:prstGeom>
        </p:spPr>
        <p:txBody>
          <a:bodyPr anchorCtr="0" anchor="t" bIns="91425" lIns="91425" spcFirstLastPara="1" rIns="91425" wrap="square" tIns="91425">
            <a:noAutofit/>
          </a:bodyPr>
          <a:lstStyle/>
          <a:p>
            <a:pPr indent="0" lvl="0" marL="0" marR="0" rtl="1" algn="l">
              <a:lnSpc>
                <a:spcPct val="100000"/>
              </a:lnSpc>
              <a:spcBef>
                <a:spcPts val="0"/>
              </a:spcBef>
              <a:spcAft>
                <a:spcPts val="0"/>
              </a:spcAft>
              <a:buSzPts val="990"/>
              <a:buNone/>
            </a:pPr>
            <a:r>
              <a:rPr lang="en" sz="2340">
                <a:latin typeface="Calibri"/>
                <a:ea typeface="Calibri"/>
                <a:cs typeface="Calibri"/>
                <a:sym typeface="Calibri"/>
              </a:rPr>
              <a:t>A block diagram of the system</a:t>
            </a:r>
            <a:endParaRPr sz="2340">
              <a:latin typeface="Calibri"/>
              <a:ea typeface="Calibri"/>
              <a:cs typeface="Calibri"/>
              <a:sym typeface="Calibri"/>
            </a:endParaRPr>
          </a:p>
          <a:p>
            <a:pPr indent="0" lvl="0" marL="0" rtl="1" algn="r">
              <a:spcBef>
                <a:spcPts val="0"/>
              </a:spcBef>
              <a:spcAft>
                <a:spcPts val="0"/>
              </a:spcAft>
              <a:buSzPts val="990"/>
              <a:buNone/>
            </a:pPr>
            <a:r>
              <a:t/>
            </a:r>
            <a:endParaRPr sz="234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